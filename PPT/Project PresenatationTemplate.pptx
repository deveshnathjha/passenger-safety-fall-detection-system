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010400" cy="9296400"/>
  <p:embeddedFontLst>
    <p:embeddedFont>
      <p:font typeface="Tahoma"/>
      <p:regular r:id="rId17"/>
      <p:bold r:id="rId18"/>
    </p:embeddedFon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11" Type="http://schemas.openxmlformats.org/officeDocument/2006/relationships/slide" Target="slides/slide6.xml"/><Relationship Id="rId22" Type="http://schemas.openxmlformats.org/officeDocument/2006/relationships/font" Target="fonts/CenturyGothic-boldItalic.fntdata"/><Relationship Id="rId10" Type="http://schemas.openxmlformats.org/officeDocument/2006/relationships/slide" Target="slides/slide5.xml"/><Relationship Id="rId21" Type="http://schemas.openxmlformats.org/officeDocument/2006/relationships/font" Target="fonts/CenturyGothic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regular.fntdata"/><Relationship Id="rId6" Type="http://schemas.openxmlformats.org/officeDocument/2006/relationships/slide" Target="slides/slide1.xml"/><Relationship Id="rId18" Type="http://schemas.openxmlformats.org/officeDocument/2006/relationships/font" Target="fonts/Tahom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4" name="Google Shape;19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3150" lIns="93150" spcFirstLastPara="1" rIns="93150" wrap="square" tIns="9315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12/5/2024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" type="subTitle"/>
          </p:nvPr>
        </p:nvSpPr>
        <p:spPr>
          <a:xfrm>
            <a:off x="1942416" y="4777380"/>
            <a:ext cx="6600451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FEFEFE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3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/>
          <p:nvPr/>
        </p:nvSpPr>
        <p:spPr>
          <a:xfrm>
            <a:off x="-31719" y="4321158"/>
            <a:ext cx="1395473" cy="781781"/>
          </a:xfrm>
          <a:custGeom>
            <a:rect b="b" l="l" r="r" t="t"/>
            <a:pathLst>
              <a:path extrusionOk="0" h="10000" w="8042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 txBox="1"/>
          <p:nvPr>
            <p:ph idx="12" type="sldNum"/>
          </p:nvPr>
        </p:nvSpPr>
        <p:spPr>
          <a:xfrm>
            <a:off x="423334" y="4529541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/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" type="body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1942415" y="2074562"/>
            <a:ext cx="659198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body"/>
          </p:nvPr>
        </p:nvSpPr>
        <p:spPr>
          <a:xfrm>
            <a:off x="1942415" y="3581400"/>
            <a:ext cx="659198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1942416" y="2136706"/>
            <a:ext cx="3197531" cy="37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2" type="body"/>
          </p:nvPr>
        </p:nvSpPr>
        <p:spPr>
          <a:xfrm>
            <a:off x="5337307" y="2136706"/>
            <a:ext cx="3197093" cy="37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2265352" y="2226626"/>
            <a:ext cx="287459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7"/>
          <p:cNvSpPr txBox="1"/>
          <p:nvPr>
            <p:ph idx="2" type="body"/>
          </p:nvPr>
        </p:nvSpPr>
        <p:spPr>
          <a:xfrm>
            <a:off x="1942415" y="2802888"/>
            <a:ext cx="3197532" cy="31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3" type="body"/>
          </p:nvPr>
        </p:nvSpPr>
        <p:spPr>
          <a:xfrm>
            <a:off x="5656154" y="2223398"/>
            <a:ext cx="28732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7"/>
          <p:cNvSpPr txBox="1"/>
          <p:nvPr>
            <p:ph idx="4" type="body"/>
          </p:nvPr>
        </p:nvSpPr>
        <p:spPr>
          <a:xfrm>
            <a:off x="5333715" y="2799660"/>
            <a:ext cx="3195680" cy="31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942415" y="446088"/>
            <a:ext cx="2629584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4743494" y="446089"/>
            <a:ext cx="3790906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2" type="body"/>
          </p:nvPr>
        </p:nvSpPr>
        <p:spPr>
          <a:xfrm>
            <a:off x="1942415" y="1598613"/>
            <a:ext cx="2629584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9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1942415" y="4800600"/>
            <a:ext cx="659198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/>
          <p:nvPr>
            <p:ph idx="2" type="pic"/>
          </p:nvPr>
        </p:nvSpPr>
        <p:spPr>
          <a:xfrm>
            <a:off x="1942415" y="634965"/>
            <a:ext cx="6591985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1942415" y="5367338"/>
            <a:ext cx="6591985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1942415" y="609600"/>
            <a:ext cx="6591985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body"/>
          </p:nvPr>
        </p:nvSpPr>
        <p:spPr>
          <a:xfrm>
            <a:off x="2415972" y="3505200"/>
            <a:ext cx="56538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12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1942415" y="2438401"/>
            <a:ext cx="6591985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FEFEFE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942415" y="4343400"/>
            <a:ext cx="66882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1942415" y="5181600"/>
            <a:ext cx="6688292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FEFEFE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1942416" y="627407"/>
            <a:ext cx="6591984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1942415" y="4343400"/>
            <a:ext cx="659198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2" type="body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FEFEFE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 rot="5400000">
            <a:off x="3295307" y="780707"/>
            <a:ext cx="3886200" cy="6591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 rot="5400000">
            <a:off x="5064693" y="2441248"/>
            <a:ext cx="5283817" cy="16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 rot="5400000">
            <a:off x="1658681" y="911140"/>
            <a:ext cx="5283817" cy="471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10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7" name="Google Shape;7;p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1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20" name="Google Shape;20;p1"/>
            <p:cNvSpPr/>
            <p:nvPr/>
          </p:nvSpPr>
          <p:spPr>
            <a:xfrm>
              <a:off x="6627813" y="195717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1"/>
          <p:cNvSpPr txBox="1"/>
          <p:nvPr>
            <p:ph idx="1" type="body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1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250" y="48675"/>
            <a:ext cx="1234559" cy="5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17453" y="2329332"/>
            <a:ext cx="7855597" cy="12798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430C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93430C"/>
                </a:solidFill>
                <a:latin typeface="Arial"/>
                <a:ea typeface="Arial"/>
                <a:cs typeface="Arial"/>
                <a:sym typeface="Arial"/>
              </a:rPr>
              <a:t>      Project Title</a:t>
            </a:r>
            <a:endParaRPr b="0" i="0" sz="4400" u="none" cap="none" strike="noStrike">
              <a:solidFill>
                <a:srgbClr val="9343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077841" y="3888739"/>
            <a:ext cx="2988318" cy="2431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0087C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0087C"/>
                </a:solidFill>
                <a:latin typeface="Arial"/>
                <a:ea typeface="Arial"/>
                <a:cs typeface="Arial"/>
                <a:sym typeface="Arial"/>
              </a:rPr>
              <a:t>Student Name ( Roll No)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0087C"/>
                </a:solidFill>
                <a:latin typeface="Arial"/>
                <a:ea typeface="Arial"/>
                <a:cs typeface="Arial"/>
                <a:sym typeface="Arial"/>
              </a:rPr>
              <a:t>Student Name ( Roll No)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0087C"/>
                </a:solidFill>
                <a:latin typeface="Arial"/>
                <a:ea typeface="Arial"/>
                <a:cs typeface="Arial"/>
                <a:sym typeface="Arial"/>
              </a:rPr>
              <a:t>Student Name ( Roll No)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0087C"/>
                </a:solidFill>
                <a:latin typeface="Arial"/>
                <a:ea typeface="Arial"/>
                <a:cs typeface="Arial"/>
                <a:sym typeface="Arial"/>
              </a:rPr>
              <a:t>under the supervision of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0087C"/>
                </a:solidFill>
                <a:latin typeface="Arial"/>
                <a:ea typeface="Arial"/>
                <a:cs typeface="Arial"/>
                <a:sym typeface="Arial"/>
              </a:rPr>
              <a:t>Faculty Name(s)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508810" y="537826"/>
            <a:ext cx="7148494" cy="12798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Dr. B. C. Roy Engineering College Durgapur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(AIML)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175" name="Google Shape;175;p19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177" name="Google Shape;177;p19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2639961" y="825910"/>
            <a:ext cx="43212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32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1946787" y="1410686"/>
            <a:ext cx="6032089" cy="522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146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000"/>
              <a:buFont typeface="Lucida Sans"/>
              <a:buChar char="►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Introduction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2000"/>
              <a:buFont typeface="Lucida Sans"/>
              <a:buChar char="►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Review of Literature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2000"/>
              <a:buFont typeface="Lucida Sans"/>
              <a:buChar char="►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Development of Algorithms and Methodologies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3333B2"/>
              </a:buClr>
              <a:buSzPts val="2000"/>
              <a:buFont typeface="Lucida Sans"/>
              <a:buChar char="►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Result and Discussions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3333B2"/>
              </a:buClr>
              <a:buSzPts val="2000"/>
              <a:buFont typeface="Lucida Sans"/>
              <a:buChar char="►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Summary and Conclusions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2000"/>
              <a:buFont typeface="Lucida Sans"/>
              <a:buChar char="►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Future Scope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2000"/>
              <a:buFont typeface="Lucida Sans"/>
              <a:buChar char="►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List of Publications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3333B2"/>
              </a:buClr>
              <a:buSzPts val="2000"/>
              <a:buFont typeface="Lucida Sans"/>
              <a:buChar char="►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References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186" name="Google Shape;186;p20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188" name="Google Shape;188;p20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284604" y="828636"/>
            <a:ext cx="2016224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Introduction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40658" y="1859197"/>
            <a:ext cx="7374193" cy="3228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 The following points should be covered in the introduction. Depending on the contents, the introduction can be two pages long also)</a:t>
            </a:r>
            <a:endParaRPr/>
          </a:p>
          <a:p>
            <a:pPr indent="0" lvl="0" marL="381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Background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Description of the project background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Motivation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Why this project is important or relevant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197" name="Google Shape;197;p21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315497" y="930498"/>
            <a:ext cx="3849329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           Objectives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1843548" y="2288905"/>
            <a:ext cx="5633883" cy="206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146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Objective 1: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Describe objective 1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Objective 2: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Describe objective 2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Objective 3: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Describe objective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208" name="Google Shape;208;p22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1710813" y="1080878"/>
            <a:ext cx="5707626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Review of Literature/ Related Work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2195735" y="2437876"/>
            <a:ext cx="4794999" cy="2438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146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Summary of related work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Gaps in current research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How your work contributes to solving these gaps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219" name="Google Shape;219;p23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221" name="Google Shape;221;p23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1814052" y="1052736"/>
            <a:ext cx="6459793" cy="386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Development of Algorithms and Methodologies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814053" y="2047506"/>
            <a:ext cx="5383160" cy="206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146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Algorithm/Model developed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Dataset and tools used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Methodology followed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230" name="Google Shape;230;p24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2834067" y="828636"/>
            <a:ext cx="3742635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Results and Discussions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2020529" y="2195937"/>
            <a:ext cx="5383161" cy="2030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146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Results: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graphs/tables/images here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Discussion: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Interpretation of results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241" name="Google Shape;241;p25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2195736" y="808261"/>
            <a:ext cx="4824496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Summary and Conclusions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2035277" y="1930887"/>
            <a:ext cx="5102941" cy="2030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146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Recap the project’s purpose and findings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Major conclusions drawn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7464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252" name="Google Shape;252;p26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3284565" y="652863"/>
            <a:ext cx="257487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Future Scope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2509931" y="2933938"/>
            <a:ext cx="3805930" cy="750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77165" lvl="0" marL="201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Suggestions for extending the work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263" name="Google Shape;263;p27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265" name="Google Shape;265;p27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3600731" y="808261"/>
            <a:ext cx="260834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References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2958680" y="2444229"/>
            <a:ext cx="3589604" cy="157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146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Reference 1: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Details of reference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165" lvl="0" marL="214629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2400"/>
              <a:buFont typeface="Lucida Sans"/>
              <a:buChar char="►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Reference 2: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Details of reference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 1\Downloads\WIP NKB 19042024\URGENT WIP Doables APRIL 2024\WIP IIPC Meeting 27022024\CLW proposal draft 19042024\8 DBCRS logo.jpg" id="274" name="Google Shape;274;p28"/>
          <p:cNvPicPr preferRelativeResize="0"/>
          <p:nvPr/>
        </p:nvPicPr>
        <p:blipFill rotWithShape="1">
          <a:blip r:embed="rId3">
            <a:alphaModFix/>
          </a:blip>
          <a:srcRect b="20259" l="12615" r="11538" t="14498"/>
          <a:stretch/>
        </p:blipFill>
        <p:spPr>
          <a:xfrm>
            <a:off x="179512" y="116632"/>
            <a:ext cx="2016224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1616"/>
                </a:solidFill>
              </a:rPr>
              <a:t>Date</a:t>
            </a:r>
            <a:endParaRPr/>
          </a:p>
        </p:txBody>
      </p:sp>
      <p:sp>
        <p:nvSpPr>
          <p:cNvPr id="276" name="Google Shape;276;p28"/>
          <p:cNvSpPr txBox="1"/>
          <p:nvPr>
            <p:ph idx="12" type="sldNum"/>
          </p:nvPr>
        </p:nvSpPr>
        <p:spPr>
          <a:xfrm>
            <a:off x="4412896" y="626722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171616"/>
                </a:solidFill>
              </a:rPr>
              <a:t>‹#›</a:t>
            </a:fld>
            <a:endParaRPr>
              <a:solidFill>
                <a:srgbClr val="171616"/>
              </a:solidFill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2521974" y="2713703"/>
            <a:ext cx="37313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Thank You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Custom 1">
      <a:dk1>
        <a:srgbClr val="FFFFFF"/>
      </a:dk1>
      <a:lt1>
        <a:srgbClr val="FFFFFF"/>
      </a:lt1>
      <a:dk2>
        <a:srgbClr val="C55A11"/>
      </a:dk2>
      <a:lt2>
        <a:srgbClr val="E7E6E6"/>
      </a:lt2>
      <a:accent1>
        <a:srgbClr val="BF9000"/>
      </a:accent1>
      <a:accent2>
        <a:srgbClr val="ED7D31"/>
      </a:accent2>
      <a:accent3>
        <a:srgbClr val="A5A5A5"/>
      </a:accent3>
      <a:accent4>
        <a:srgbClr val="BF9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